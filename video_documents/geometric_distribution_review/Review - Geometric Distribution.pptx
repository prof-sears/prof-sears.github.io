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6" r:id="rId11"/>
    <p:sldId id="264" r:id="rId12"/>
  </p:sldIdLst>
  <p:sldSz cx="138176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26C70-AE1A-49B1-BC63-16FA74EE64F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23521-4EDA-4011-A261-D99DC8163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25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D92B-04A8-4612-B85C-15E0EBE92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074" y="1147865"/>
            <a:ext cx="12561455" cy="2738336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75719-20C9-4EA1-8EBC-108E74BC6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219" y="4815192"/>
            <a:ext cx="10035800" cy="914401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latin typeface="+mn-lt"/>
              </a:defRPr>
            </a:lvl1pPr>
            <a:lvl2pPr marL="690860" indent="0" algn="ctr">
              <a:buNone/>
              <a:defRPr sz="3023"/>
            </a:lvl2pPr>
            <a:lvl3pPr marL="1381721" indent="0" algn="ctr">
              <a:buNone/>
              <a:defRPr sz="2720"/>
            </a:lvl3pPr>
            <a:lvl4pPr marL="2072582" indent="0" algn="ctr">
              <a:buNone/>
              <a:defRPr sz="2417"/>
            </a:lvl4pPr>
            <a:lvl5pPr marL="2763443" indent="0" algn="ctr">
              <a:buNone/>
              <a:defRPr sz="2417"/>
            </a:lvl5pPr>
            <a:lvl6pPr marL="3454303" indent="0" algn="ctr">
              <a:buNone/>
              <a:defRPr sz="2417"/>
            </a:lvl6pPr>
            <a:lvl7pPr marL="4145164" indent="0" algn="ctr">
              <a:buNone/>
              <a:defRPr sz="2417"/>
            </a:lvl7pPr>
            <a:lvl8pPr marL="4836024" indent="0" algn="ctr">
              <a:buNone/>
              <a:defRPr sz="2417"/>
            </a:lvl8pPr>
            <a:lvl9pPr marL="5526886" indent="0" algn="ctr">
              <a:buNone/>
              <a:defRPr sz="24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0331-45C0-4952-8FFF-AD7E5D8D0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2AB7-3AD6-41BF-9055-F4515694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0019" y="7203864"/>
            <a:ext cx="1269509" cy="335072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495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  <p15:guide id="2" pos="435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3455-58F1-4736-9E1D-DF873311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5F7B7-6443-4A6B-BD69-1317E1D7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4" y="1157058"/>
            <a:ext cx="12561455" cy="59246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E263B-6727-43A3-8D00-0D7A376D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74" y="7199535"/>
            <a:ext cx="10677236" cy="339402"/>
          </a:xfrm>
        </p:spPr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83D4F-31F0-491D-8D53-D1BCBBB2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33382" y="7195204"/>
            <a:ext cx="1256145" cy="339402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9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B9F3-63AD-407B-8118-6F0ED603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74" y="2062264"/>
            <a:ext cx="12548089" cy="2743200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374EA-3A94-4331-80FA-503D91EE3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074" y="5224362"/>
            <a:ext cx="12548089" cy="1828801"/>
          </a:xfrm>
        </p:spPr>
        <p:txBody>
          <a:bodyPr>
            <a:normAutofit/>
          </a:bodyPr>
          <a:lstStyle>
            <a:lvl1pPr marL="0" indent="0">
              <a:buNone/>
              <a:defRPr sz="48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90860" indent="0">
              <a:buNone/>
              <a:defRPr sz="3023">
                <a:solidFill>
                  <a:schemeClr val="tx1">
                    <a:tint val="75000"/>
                  </a:schemeClr>
                </a:solidFill>
              </a:defRPr>
            </a:lvl2pPr>
            <a:lvl3pPr marL="1381721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3pPr>
            <a:lvl4pPr marL="2072582" indent="0">
              <a:buNone/>
              <a:defRPr sz="2417">
                <a:solidFill>
                  <a:schemeClr val="tx1">
                    <a:tint val="75000"/>
                  </a:schemeClr>
                </a:solidFill>
              </a:defRPr>
            </a:lvl4pPr>
            <a:lvl5pPr marL="2763443" indent="0">
              <a:buNone/>
              <a:defRPr sz="2417">
                <a:solidFill>
                  <a:schemeClr val="tx1">
                    <a:tint val="75000"/>
                  </a:schemeClr>
                </a:solidFill>
              </a:defRPr>
            </a:lvl5pPr>
            <a:lvl6pPr marL="3454303" indent="0">
              <a:buNone/>
              <a:defRPr sz="2417">
                <a:solidFill>
                  <a:schemeClr val="tx1">
                    <a:tint val="75000"/>
                  </a:schemeClr>
                </a:solidFill>
              </a:defRPr>
            </a:lvl6pPr>
            <a:lvl7pPr marL="4145164" indent="0">
              <a:buNone/>
              <a:defRPr sz="2417">
                <a:solidFill>
                  <a:schemeClr val="tx1">
                    <a:tint val="75000"/>
                  </a:schemeClr>
                </a:solidFill>
              </a:defRPr>
            </a:lvl7pPr>
            <a:lvl8pPr marL="4836024" indent="0">
              <a:buNone/>
              <a:defRPr sz="2417">
                <a:solidFill>
                  <a:schemeClr val="tx1">
                    <a:tint val="75000"/>
                  </a:schemeClr>
                </a:solidFill>
              </a:defRPr>
            </a:lvl8pPr>
            <a:lvl9pPr marL="5526886" indent="0">
              <a:buNone/>
              <a:defRPr sz="24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C83BD-CFD3-49D6-A857-E78ABB3E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B27F0-A098-4219-A87D-34F14DFC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33381" y="7203867"/>
            <a:ext cx="1256147" cy="335071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36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B469-8A4D-4F14-A6FD-5B21CE70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8F5F9-839D-4E19-AB92-039A23FB5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074" y="1157058"/>
            <a:ext cx="6194367" cy="5934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1D2E9-A36A-488E-AFF7-94060B260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95160" y="1157058"/>
            <a:ext cx="6194365" cy="5934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92BDA-7B56-4583-B421-C2830C4D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E4673-D615-40B8-BADA-136F9C90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0108" y="7203867"/>
            <a:ext cx="1229419" cy="335071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7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cise with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B469-8A4D-4F14-A6FD-5B21CE70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8F5F9-839D-4E19-AB92-039A23FB5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074" y="1157058"/>
            <a:ext cx="6194367" cy="2729142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690861" indent="0">
              <a:buNone/>
              <a:defRPr sz="3200"/>
            </a:lvl2pPr>
            <a:lvl3pPr marL="1381721" indent="0">
              <a:buNone/>
              <a:defRPr sz="1800"/>
            </a:lvl3pPr>
            <a:lvl4pPr marL="2072583" indent="0">
              <a:buNone/>
              <a:defRPr sz="1600"/>
            </a:lvl4pPr>
            <a:lvl5pPr marL="2763443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1D2E9-A36A-488E-AFF7-94060B260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95160" y="1157058"/>
            <a:ext cx="6194365" cy="59344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92BDA-7B56-4583-B421-C2830C4D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E4673-D615-40B8-BADA-136F9C90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0108" y="7203867"/>
            <a:ext cx="1229419" cy="335071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80D027A0-A14F-0121-44F8-CF58661B6C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8650" y="3886200"/>
            <a:ext cx="6194425" cy="3205163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7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C6C7-02C5-4BEA-A5AE-D807476C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60" y="413812"/>
            <a:ext cx="1191768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B0366-D454-49EA-8D20-95D8F462A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762" y="1905320"/>
            <a:ext cx="5845492" cy="933767"/>
          </a:xfrm>
        </p:spPr>
        <p:txBody>
          <a:bodyPr anchor="b"/>
          <a:lstStyle>
            <a:lvl1pPr marL="0" indent="0">
              <a:buNone/>
              <a:defRPr sz="3627" b="1"/>
            </a:lvl1pPr>
            <a:lvl2pPr marL="690860" indent="0">
              <a:buNone/>
              <a:defRPr sz="3023" b="1"/>
            </a:lvl2pPr>
            <a:lvl3pPr marL="1381721" indent="0">
              <a:buNone/>
              <a:defRPr sz="2720" b="1"/>
            </a:lvl3pPr>
            <a:lvl4pPr marL="2072582" indent="0">
              <a:buNone/>
              <a:defRPr sz="2417" b="1"/>
            </a:lvl4pPr>
            <a:lvl5pPr marL="2763443" indent="0">
              <a:buNone/>
              <a:defRPr sz="2417" b="1"/>
            </a:lvl5pPr>
            <a:lvl6pPr marL="3454303" indent="0">
              <a:buNone/>
              <a:defRPr sz="2417" b="1"/>
            </a:lvl6pPr>
            <a:lvl7pPr marL="4145164" indent="0">
              <a:buNone/>
              <a:defRPr sz="2417" b="1"/>
            </a:lvl7pPr>
            <a:lvl8pPr marL="4836024" indent="0">
              <a:buNone/>
              <a:defRPr sz="2417" b="1"/>
            </a:lvl8pPr>
            <a:lvl9pPr marL="5526886" indent="0">
              <a:buNone/>
              <a:defRPr sz="24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17104-2D36-4AA8-B759-A85E6133A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1762" y="2839085"/>
            <a:ext cx="584549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E386DE-670D-4784-9FCD-A5BA8D123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95161" y="1905320"/>
            <a:ext cx="5874280" cy="933767"/>
          </a:xfrm>
        </p:spPr>
        <p:txBody>
          <a:bodyPr anchor="b"/>
          <a:lstStyle>
            <a:lvl1pPr marL="0" indent="0">
              <a:buNone/>
              <a:defRPr sz="3627" b="1"/>
            </a:lvl1pPr>
            <a:lvl2pPr marL="690860" indent="0">
              <a:buNone/>
              <a:defRPr sz="3023" b="1"/>
            </a:lvl2pPr>
            <a:lvl3pPr marL="1381721" indent="0">
              <a:buNone/>
              <a:defRPr sz="2720" b="1"/>
            </a:lvl3pPr>
            <a:lvl4pPr marL="2072582" indent="0">
              <a:buNone/>
              <a:defRPr sz="2417" b="1"/>
            </a:lvl4pPr>
            <a:lvl5pPr marL="2763443" indent="0">
              <a:buNone/>
              <a:defRPr sz="2417" b="1"/>
            </a:lvl5pPr>
            <a:lvl6pPr marL="3454303" indent="0">
              <a:buNone/>
              <a:defRPr sz="2417" b="1"/>
            </a:lvl6pPr>
            <a:lvl7pPr marL="4145164" indent="0">
              <a:buNone/>
              <a:defRPr sz="2417" b="1"/>
            </a:lvl7pPr>
            <a:lvl8pPr marL="4836024" indent="0">
              <a:buNone/>
              <a:defRPr sz="2417" b="1"/>
            </a:lvl8pPr>
            <a:lvl9pPr marL="5526886" indent="0">
              <a:buNone/>
              <a:defRPr sz="24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CB5AC-B47C-4C93-BE95-B14197143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5161" y="2839085"/>
            <a:ext cx="587428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AF19C-7921-44CC-8986-1B2FA92A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960" y="7203865"/>
            <a:ext cx="310896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F8343B-3FA5-4509-9932-63DB06AEF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F4449-9D82-4046-8E81-9960F0D63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680" y="7203865"/>
            <a:ext cx="3108960" cy="413808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54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3C17-C547-4279-BD30-6462E3B4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15F5C-1660-4597-8671-0D8DFB15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B5DBA-8626-4816-B3A7-3742D5DD4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33382" y="7203867"/>
            <a:ext cx="1256145" cy="335071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2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128FC-2B87-47EC-86C6-DA42BB8C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960" y="7203865"/>
            <a:ext cx="310896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28CFE-4869-4DDA-AB3C-39AD7311B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8E4AE-2A89-4EFC-903E-71543B2C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680" y="7203865"/>
            <a:ext cx="3108960" cy="413808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2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FD44-17E4-493F-8C70-CFFE73CE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37" y="233464"/>
            <a:ext cx="4931039" cy="1361872"/>
          </a:xfrm>
        </p:spPr>
        <p:txBody>
          <a:bodyPr anchor="b"/>
          <a:lstStyle>
            <a:lvl1pPr>
              <a:defRPr sz="483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B8D3-FEA3-4A61-831E-D9C4DB180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6108" y="233464"/>
            <a:ext cx="7470056" cy="6891664"/>
          </a:xfrm>
        </p:spPr>
        <p:txBody>
          <a:bodyPr/>
          <a:lstStyle>
            <a:lvl1pPr>
              <a:defRPr sz="4836"/>
            </a:lvl1pPr>
            <a:lvl2pPr>
              <a:defRPr sz="4231"/>
            </a:lvl2pPr>
            <a:lvl3pPr>
              <a:defRPr sz="3627"/>
            </a:lvl3pPr>
            <a:lvl4pPr>
              <a:defRPr sz="3023"/>
            </a:lvl4pPr>
            <a:lvl5pPr>
              <a:defRPr sz="3023"/>
            </a:lvl5pPr>
            <a:lvl6pPr>
              <a:defRPr sz="3023"/>
            </a:lvl6pPr>
            <a:lvl7pPr>
              <a:defRPr sz="3023"/>
            </a:lvl7pPr>
            <a:lvl8pPr>
              <a:defRPr sz="3023"/>
            </a:lvl8pPr>
            <a:lvl9pPr>
              <a:defRPr sz="30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87578-D11D-4811-AAF7-C4915CF69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437" y="1595336"/>
            <a:ext cx="4931039" cy="5529792"/>
          </a:xfrm>
        </p:spPr>
        <p:txBody>
          <a:bodyPr/>
          <a:lstStyle>
            <a:lvl1pPr marL="0" indent="0">
              <a:buNone/>
              <a:defRPr sz="2417"/>
            </a:lvl1pPr>
            <a:lvl2pPr marL="690860" indent="0">
              <a:buNone/>
              <a:defRPr sz="2116"/>
            </a:lvl2pPr>
            <a:lvl3pPr marL="1381721" indent="0">
              <a:buNone/>
              <a:defRPr sz="1813"/>
            </a:lvl3pPr>
            <a:lvl4pPr marL="2072582" indent="0">
              <a:buNone/>
              <a:defRPr sz="1511"/>
            </a:lvl4pPr>
            <a:lvl5pPr marL="2763443" indent="0">
              <a:buNone/>
              <a:defRPr sz="1511"/>
            </a:lvl5pPr>
            <a:lvl6pPr marL="3454303" indent="0">
              <a:buNone/>
              <a:defRPr sz="1511"/>
            </a:lvl6pPr>
            <a:lvl7pPr marL="4145164" indent="0">
              <a:buNone/>
              <a:defRPr sz="1511"/>
            </a:lvl7pPr>
            <a:lvl8pPr marL="4836024" indent="0">
              <a:buNone/>
              <a:defRPr sz="1511"/>
            </a:lvl8pPr>
            <a:lvl9pPr marL="5526886" indent="0">
              <a:buNone/>
              <a:defRPr sz="15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FA6A4-3351-4D86-9D0C-FA30C104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97F3F-80F0-4461-B01B-A3667463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33383" y="7203867"/>
            <a:ext cx="1242781" cy="335071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0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D39EA-049D-4BD0-841A-F9FE3ACC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6" cy="1813560"/>
          </a:xfrm>
        </p:spPr>
        <p:txBody>
          <a:bodyPr anchor="b"/>
          <a:lstStyle>
            <a:lvl1pPr>
              <a:defRPr sz="483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77A621-473B-4A86-B73B-CC4790B48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74280" y="1119083"/>
            <a:ext cx="6995160" cy="5523442"/>
          </a:xfrm>
        </p:spPr>
        <p:txBody>
          <a:bodyPr/>
          <a:lstStyle>
            <a:lvl1pPr marL="0" indent="0">
              <a:buNone/>
              <a:defRPr sz="4836"/>
            </a:lvl1pPr>
            <a:lvl2pPr marL="690860" indent="0">
              <a:buNone/>
              <a:defRPr sz="4231"/>
            </a:lvl2pPr>
            <a:lvl3pPr marL="1381721" indent="0">
              <a:buNone/>
              <a:defRPr sz="3627"/>
            </a:lvl3pPr>
            <a:lvl4pPr marL="2072582" indent="0">
              <a:buNone/>
              <a:defRPr sz="3023"/>
            </a:lvl4pPr>
            <a:lvl5pPr marL="2763443" indent="0">
              <a:buNone/>
              <a:defRPr sz="3023"/>
            </a:lvl5pPr>
            <a:lvl6pPr marL="3454303" indent="0">
              <a:buNone/>
              <a:defRPr sz="3023"/>
            </a:lvl6pPr>
            <a:lvl7pPr marL="4145164" indent="0">
              <a:buNone/>
              <a:defRPr sz="3023"/>
            </a:lvl7pPr>
            <a:lvl8pPr marL="4836024" indent="0">
              <a:buNone/>
              <a:defRPr sz="3023"/>
            </a:lvl8pPr>
            <a:lvl9pPr marL="5526886" indent="0">
              <a:buNone/>
              <a:defRPr sz="302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0758F-48E9-4644-A2C3-17E6F01D7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6" cy="4319800"/>
          </a:xfrm>
        </p:spPr>
        <p:txBody>
          <a:bodyPr/>
          <a:lstStyle>
            <a:lvl1pPr marL="0" indent="0">
              <a:buNone/>
              <a:defRPr sz="2417"/>
            </a:lvl1pPr>
            <a:lvl2pPr marL="690860" indent="0">
              <a:buNone/>
              <a:defRPr sz="2116"/>
            </a:lvl2pPr>
            <a:lvl3pPr marL="1381721" indent="0">
              <a:buNone/>
              <a:defRPr sz="1813"/>
            </a:lvl3pPr>
            <a:lvl4pPr marL="2072582" indent="0">
              <a:buNone/>
              <a:defRPr sz="1511"/>
            </a:lvl4pPr>
            <a:lvl5pPr marL="2763443" indent="0">
              <a:buNone/>
              <a:defRPr sz="1511"/>
            </a:lvl5pPr>
            <a:lvl6pPr marL="3454303" indent="0">
              <a:buNone/>
              <a:defRPr sz="1511"/>
            </a:lvl6pPr>
            <a:lvl7pPr marL="4145164" indent="0">
              <a:buNone/>
              <a:defRPr sz="1511"/>
            </a:lvl7pPr>
            <a:lvl8pPr marL="4836024" indent="0">
              <a:buNone/>
              <a:defRPr sz="1511"/>
            </a:lvl8pPr>
            <a:lvl9pPr marL="5526886" indent="0">
              <a:buNone/>
              <a:defRPr sz="15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46EA2-545A-4467-9D99-D7047CD2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960" y="7203865"/>
            <a:ext cx="310896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1F5CE-908E-425A-827F-2507250A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FE3B2-BF99-43CC-8C0C-5D3ABDA6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680" y="7203865"/>
            <a:ext cx="3108960" cy="413808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7C1E-EE16-4BAD-9782-8E69B04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E3B62-7662-49E0-B922-D3604AE5D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A1E87-DFEC-401D-974D-A82969D1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960" y="7203865"/>
            <a:ext cx="310896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4FC1-C2FF-476C-AFCF-AD2A617D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B24A-5C15-4F0E-ADFB-E0CCABD8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680" y="7203865"/>
            <a:ext cx="3108960" cy="413808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B8F03-485E-45B6-AC10-ECBE9C317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88222" y="413808"/>
            <a:ext cx="2979421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0F579-F0C9-4630-B93E-D6AC8D0D8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9960" y="413808"/>
            <a:ext cx="8765541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750A-05D9-41CB-9758-530529BC07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960" y="7203865"/>
            <a:ext cx="310896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6507-70CD-4816-867C-C807332C1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8F3ED-91DF-4D80-A7F9-C713BE03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8680" y="7203865"/>
            <a:ext cx="3108960" cy="413808"/>
          </a:xfrm>
          <a:prstGeom prst="rect">
            <a:avLst/>
          </a:prstGeom>
        </p:spPr>
        <p:txBody>
          <a:bodyPr/>
          <a:lstStyle/>
          <a:p>
            <a:fld id="{A40DF819-C67A-48C0-9756-009AA4B7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7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253AA-038F-4815-A143-23636580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74" y="233464"/>
            <a:ext cx="12561455" cy="923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98F1-C476-475E-A8DF-E108DCF2E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074" y="1157058"/>
            <a:ext cx="12561455" cy="5924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75FC7-34B6-43C9-AE93-951FE9E3F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074" y="7203867"/>
            <a:ext cx="10677236" cy="335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BA927-E55A-43CB-A9F0-FA1E5CC49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933383" y="7203867"/>
            <a:ext cx="1256144" cy="335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A40DF819-C67A-48C0-9756-009AA4B784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6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dt="0"/>
  <p:txStyles>
    <p:titleStyle>
      <a:lvl1pPr algn="l" defTabSz="1381721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345430" indent="-345430" algn="l" defTabSz="1381721" rtl="0" eaLnBrk="1" latinLnBrk="0" hangingPunct="1">
        <a:lnSpc>
          <a:spcPct val="90000"/>
        </a:lnSpc>
        <a:spcBef>
          <a:spcPts val="1511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1036291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727151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2418013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3108873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3799734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6pPr>
      <a:lvl7pPr marL="4490594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7pPr>
      <a:lvl8pPr marL="5181456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8pPr>
      <a:lvl9pPr marL="5872316" indent="-345430" algn="l" defTabSz="13817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1pPr>
      <a:lvl2pPr marL="690860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381721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3pPr>
      <a:lvl4pPr marL="2072582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4pPr>
      <a:lvl5pPr marL="2763443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5pPr>
      <a:lvl6pPr marL="3454303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6pPr>
      <a:lvl7pPr marL="4145164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7pPr>
      <a:lvl8pPr marL="4836024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8pPr>
      <a:lvl9pPr marL="5526886" algn="l" defTabSz="1381721" rtl="0" eaLnBrk="1" latinLnBrk="0" hangingPunct="1">
        <a:defRPr sz="2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817600" cy="77724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05181E20-F648-4966-2621-E3830BFD60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9" r="-1" b="-1"/>
          <a:stretch>
            <a:fillRect/>
          </a:stretch>
        </p:blipFill>
        <p:spPr>
          <a:xfrm>
            <a:off x="4855088" y="10"/>
            <a:ext cx="8962512" cy="77723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817600" cy="77724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2484A-F70F-4FBF-B649-03C817D12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818" y="1263914"/>
            <a:ext cx="4660582" cy="2705947"/>
          </a:xfrm>
        </p:spPr>
        <p:txBody>
          <a:bodyPr>
            <a:normAutofit/>
          </a:bodyPr>
          <a:lstStyle/>
          <a:p>
            <a:pPr algn="l"/>
            <a:r>
              <a:rPr lang="en-US" sz="5700" dirty="0">
                <a:solidFill>
                  <a:schemeClr val="bg1"/>
                </a:solidFill>
              </a:rPr>
              <a:t>Review: Geometric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D6958-F0EF-4F3E-BBD2-7316A0DE7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818" y="4422351"/>
            <a:ext cx="4660582" cy="1876530"/>
          </a:xfrm>
        </p:spPr>
        <p:txBody>
          <a:bodyPr>
            <a:normAutofit/>
          </a:bodyPr>
          <a:lstStyle/>
          <a:p>
            <a:pPr algn="l"/>
            <a:r>
              <a:rPr lang="en-US" sz="2300" dirty="0">
                <a:solidFill>
                  <a:schemeClr val="bg1"/>
                </a:solidFill>
              </a:rPr>
              <a:t>Introduction to Statistics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45729" y="4172262"/>
            <a:ext cx="135261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0CE4E-9C16-5F0E-1B12-923D79F3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9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F93A-88B0-41DA-A440-B756FF9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EF86EA-46E1-5389-8A9D-5EDD8CEA7E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2680D15-0623-FF06-069F-F550106D369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What are the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for the model?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2680D15-0623-FF06-069F-F550106D3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3642" t="-3289" r="-2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BB016-9E40-214B-A6C3-D9859AF7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892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9A490-5C32-5A1B-3B06-251092B6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B818-1542-9491-B7AF-E151A723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2a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C5D60A-84BB-3E8F-C15E-0A1230849D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2A0FA-682C-DC13-018D-2ECBC2B826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probability that you find the correct ink on the fifth call?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30216-EDA7-55A8-E871-34A90AEB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98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A502D-C840-A892-BA59-65DA7A81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5D21-DD81-2664-CEC5-E39C68E7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2b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7484E1-F21F-B0D0-43CC-CCB03A666C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E27D6-8C6F-580D-7CF2-BDA2A8580A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probability that you find the correct ink on the fifth call?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2ED04-0DFD-15E8-333F-13A6A278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C797D7-1B51-9C4E-8836-A1554B106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716" y="3886200"/>
            <a:ext cx="4269252" cy="32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5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F36C-DAC4-5681-C1DA-C614472E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324C59-1734-F87C-A37B-D6D6AA154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716" y="3886200"/>
            <a:ext cx="4269252" cy="3205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95EC61-2407-376E-96A7-20D598290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717" y="3886200"/>
            <a:ext cx="4269252" cy="32052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3F70B5-287A-1E30-D6FC-CF1837E7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2c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E6E988-7717-CB96-1AB6-F9EFC9AFC6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F7AB1-8EF6-9A0A-DEC6-8641C4A206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probability that you find the correct ink on the fifth call?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A65DF-7F96-E1C4-5306-A0973A97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9EEDD-DC20-1A9A-CB64-8D3FBA10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1293-811C-0BAC-8BA9-7E8CB2B4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C5B506-6B23-B545-C901-42502C6D43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B0840-7203-D94D-C398-D66BAE174A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probability you call a store with the correct ink in at most 8 tries?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CE0D3-8553-86F1-DB51-C3424CB7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01ED2F-5930-8FF4-63F1-333E34774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00" y="3886200"/>
            <a:ext cx="4417400" cy="3316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849B64-310F-DD0F-4EB9-ADFBCC068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642" y="3885023"/>
            <a:ext cx="4417400" cy="331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5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414D-5632-4E76-9705-2960E674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369F-EF14-96F3-0EA1-BA058733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3E4BAC-1678-F9E7-98F1-8E3A3ABE40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0F081-28F2-6A14-3233-C1D7262623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expected number of calls you make to find the correct ink?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F2B59-D838-EB01-9F81-9CCAFC454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79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6424A-9C45-AB81-87DD-177C6797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1631-CE85-37EE-90CF-3CF40F1D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F43643-BCEE-964C-8284-0D9BCD5C7A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C288E-DC03-6C9D-F3EF-3960918F45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expected number of calls you make to find the correct ink?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CB124-7D37-FC81-1CBD-CCED005B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B8055B-C160-FF5F-3671-2165A8A3F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716" y="3886200"/>
            <a:ext cx="4269252" cy="32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27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B0CF-67DD-819E-3C31-031CD45F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BF28-B365-A5EF-92CF-B33F786C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274DA4-F13B-4858-F416-9CFB7D0E19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6E544E-DFED-759F-ACAF-1439F7F9CD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standard deviation of calls you make to find the correct ink?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A6B29-5B0A-DE1B-DEDC-0FCC387E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6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88247-AB8D-D7D3-00F0-7A57B3138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0F8D-19E0-14FD-580A-49D7066E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935287-D77D-7839-2375-C35215CAFA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6EE49-60AC-224B-0B6C-1550D2BCB3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is the standard deviation of calls you make to find the correct ink?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6F394-4625-E13B-90F4-8DA1373F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AE9A0-CA1F-05EE-4EA5-87E018D5D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197" y="3886200"/>
            <a:ext cx="4269253" cy="32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36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66D9-5215-EA8C-A36C-733E660C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3410-214A-9157-7DD9-AE3EEE36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Part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6439C0-E5B8-E439-933C-0155FC930C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You need to find a store that carries a special printer ink. You know that of the stores that carry printer ink, 10% of them carry the special ink. You randomly call each store until one has the ink you need.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F318D-F4DD-FB80-1BFD-9F1338CA3F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 are some issues with this problem. Comment below with any implicit assumptions I made about the problem.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7D2A3-E9CA-7F04-75D3-0CE4C524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Access for free at https://openstax.org/books/introductory-statistics-2e/pages/1-introduction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2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Slides" id="{F5C7885C-522D-4898-801C-E90B0A727CBB}" vid="{A5F14A4C-6552-4059-A6AA-F7AAB940EA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math_slides</Template>
  <TotalTime>65</TotalTime>
  <Words>848</Words>
  <Application>Microsoft Office PowerPoint</Application>
  <PresentationFormat>Custom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</vt:lpstr>
      <vt:lpstr>Cambria Math</vt:lpstr>
      <vt:lpstr>Office Theme</vt:lpstr>
      <vt:lpstr>Review: Geometric Distributions</vt:lpstr>
      <vt:lpstr>Example – Part 1</vt:lpstr>
      <vt:lpstr>Example – Part 2a</vt:lpstr>
      <vt:lpstr>Example – Part 2b</vt:lpstr>
      <vt:lpstr>Example – Part 2c</vt:lpstr>
      <vt:lpstr>Example – Part 3</vt:lpstr>
      <vt:lpstr>Example – Part 4</vt:lpstr>
      <vt:lpstr>Example – Part 4</vt:lpstr>
      <vt:lpstr>Example – Part 5</vt:lpstr>
      <vt:lpstr>Example – Part 5</vt:lpstr>
      <vt:lpstr>Example – Part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Sears, Christopher M (Maysville)</dc:creator>
  <cp:lastModifiedBy>Sears, Christopher M (Maysville)</cp:lastModifiedBy>
  <cp:revision>6</cp:revision>
  <dcterms:created xsi:type="dcterms:W3CDTF">2026-04-29T16:43:11Z</dcterms:created>
  <dcterms:modified xsi:type="dcterms:W3CDTF">2026-04-29T17:49:45Z</dcterms:modified>
</cp:coreProperties>
</file>